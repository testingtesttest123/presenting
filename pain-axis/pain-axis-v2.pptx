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34d02da37341de" /><Relationship Type="http://schemas.openxmlformats.org/officeDocument/2006/relationships/extended-properties" Target="/docProps/app.xml" Id="R7509b89f21044d5e" /><Relationship Type="http://schemas.openxmlformats.org/officeDocument/2006/relationships/officeDocument" Target="/ppt/presentation.xml" Id="Rbdb75e59e48541f1" /></Relationships>
</file>

<file path=ppt/presentation.xml><?xml version="1.0" encoding="utf-8"?>
<p:presentation xmlns:p="http://schemas.openxmlformats.org/presentationml/2006/main">
  <p:sldMasterIdLst>
    <p:sldMasterId xmlns:r="http://schemas.openxmlformats.org/officeDocument/2006/relationships" id="2147483648" r:id="Ra2a2cf3dfdb34384"/>
  </p:sldMasterIdLst>
  <p:notesMasterIdLst>
    <p:notesMasterId xmlns:r="http://schemas.openxmlformats.org/officeDocument/2006/relationships" r:id="Ra71022902389489a"/>
  </p:notesMasterIdLst>
  <p:sldIdLst>
    <p:sldId xmlns:r="http://schemas.openxmlformats.org/officeDocument/2006/relationships" id="256" r:id="Rd0f322f9adb54d95"/>
    <p:sldId xmlns:r="http://schemas.openxmlformats.org/officeDocument/2006/relationships" id="257" r:id="R438de056213f4697"/>
    <p:sldId xmlns:r="http://schemas.openxmlformats.org/officeDocument/2006/relationships" id="258" r:id="Ra9f02bccfeb0477a"/>
    <p:sldId xmlns:r="http://schemas.openxmlformats.org/officeDocument/2006/relationships" id="259" r:id="Rabc34f2c849047db"/>
    <p:sldId xmlns:r="http://schemas.openxmlformats.org/officeDocument/2006/relationships" id="260" r:id="R5260205d67cc4297"/>
    <p:sldId xmlns:r="http://schemas.openxmlformats.org/officeDocument/2006/relationships" id="261" r:id="Rd9727c362d6a46f2"/>
    <p:sldId xmlns:r="http://schemas.openxmlformats.org/officeDocument/2006/relationships" id="262" r:id="R397dc1e76da94fbc"/>
    <p:sldId xmlns:r="http://schemas.openxmlformats.org/officeDocument/2006/relationships" id="263" r:id="R7051c85c124d4299"/>
    <p:sldId xmlns:r="http://schemas.openxmlformats.org/officeDocument/2006/relationships" id="264" r:id="R0a78da42e64a42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f9e3f88a0f4f7a" /><Relationship Type="http://schemas.openxmlformats.org/officeDocument/2006/relationships/slideMaster" Target="/ppt/slideMasters/slideMaster1.xml" Id="Ra2a2cf3dfdb34384" /><Relationship Type="http://schemas.openxmlformats.org/officeDocument/2006/relationships/notesMaster" Target="/ppt/notesMasters/notesMaster1.xml" Id="Ra71022902389489a" /><Relationship Type="http://schemas.openxmlformats.org/officeDocument/2006/relationships/presProps" Target="/ppt/presProps.xml" Id="Rea3d99d3df824f54" /><Relationship Type="http://schemas.openxmlformats.org/officeDocument/2006/relationships/tableStyles" Target="/ppt/tableStyles.xml" Id="R54c919237db549cb" /><Relationship Type="http://schemas.openxmlformats.org/officeDocument/2006/relationships/slide" Target="/ppt/slides/slide1.xml" Id="Rd0f322f9adb54d95" /><Relationship Type="http://schemas.openxmlformats.org/officeDocument/2006/relationships/slide" Target="/ppt/slides/slide2.xml" Id="R438de056213f4697" /><Relationship Type="http://schemas.openxmlformats.org/officeDocument/2006/relationships/slide" Target="/ppt/slides/slide3.xml" Id="Ra9f02bccfeb0477a" /><Relationship Type="http://schemas.openxmlformats.org/officeDocument/2006/relationships/slide" Target="/ppt/slides/slide4.xml" Id="Rabc34f2c849047db" /><Relationship Type="http://schemas.openxmlformats.org/officeDocument/2006/relationships/slide" Target="/ppt/slides/slide5.xml" Id="R5260205d67cc4297" /><Relationship Type="http://schemas.openxmlformats.org/officeDocument/2006/relationships/slide" Target="/ppt/slides/slide6.xml" Id="Rd9727c362d6a46f2" /><Relationship Type="http://schemas.openxmlformats.org/officeDocument/2006/relationships/slide" Target="/ppt/slides/slide7.xml" Id="R397dc1e76da94fbc" /><Relationship Type="http://schemas.openxmlformats.org/officeDocument/2006/relationships/slide" Target="/ppt/slides/slide8.xml" Id="R7051c85c124d4299" /><Relationship Type="http://schemas.openxmlformats.org/officeDocument/2006/relationships/slide" Target="/ppt/slides/slide9.xml" Id="R0a78da42e64a42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297481bf3745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c1e979889e4ad9" /><Relationship Type="http://schemas.openxmlformats.org/officeDocument/2006/relationships/notesMaster" Target="/ppt/notesMasters/notesMaster1.xml" Id="R3f7a8afb9b3e42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c3fd27755d4df1" /><Relationship Type="http://schemas.openxmlformats.org/officeDocument/2006/relationships/notesMaster" Target="/ppt/notesMasters/notesMaster1.xml" Id="Rc4e3cb1992194b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4be47816a04303" /><Relationship Type="http://schemas.openxmlformats.org/officeDocument/2006/relationships/notesMaster" Target="/ppt/notesMasters/notesMaster1.xml" Id="Rf219349d0fb240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7eb129882448ce" /><Relationship Type="http://schemas.openxmlformats.org/officeDocument/2006/relationships/notesMaster" Target="/ppt/notesMasters/notesMaster1.xml" Id="R2e6e76142722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773ddcf61a46e6" /><Relationship Type="http://schemas.openxmlformats.org/officeDocument/2006/relationships/notesMaster" Target="/ppt/notesMasters/notesMaster1.xml" Id="R22771db13bb84c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97e179843f4435" /><Relationship Type="http://schemas.openxmlformats.org/officeDocument/2006/relationships/notesMaster" Target="/ppt/notesMasters/notesMaster1.xml" Id="R0f752693eaf149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70517f9de64878" /><Relationship Type="http://schemas.openxmlformats.org/officeDocument/2006/relationships/notesMaster" Target="/ppt/notesMasters/notesMaster1.xml" Id="Rfe8b5ab3d8b143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2f0e5b53da4d64" /><Relationship Type="http://schemas.openxmlformats.org/officeDocument/2006/relationships/notesMaster" Target="/ppt/notesMasters/notesMaster1.xml" Id="R437f0c39f2bb44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9e7f2844f84e58" /><Relationship Type="http://schemas.openxmlformats.org/officeDocument/2006/relationships/notesMaster" Target="/ppt/notesMasters/notesMaster1.xml" Id="Re1e6105a434e42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This technical briefing discusses arXiv:2609.16247v2. Version 1 appeared on 14 September 2026. The current revision is from September, not a new October release. The paper studies model activations and generated responses. It does not establish subjective experience.</a:t>
            </a:r>
          </a:p>
          <a:p xmlns:a="http://schemas.openxmlformats.org/drawingml/2006/main">
            <a:r>
              <a:t/>
            </a:r>
          </a:p>
          <a:p xmlns:a="http://schemas.openxmlformats.org/drawingml/2006/main">
            <a:r>
              <a:t>Sources</a:t>
            </a:r>
          </a:p>
          <a:p xmlns:a="http://schemas.openxmlformats.org/drawingml/2006/main">
            <a:r>
              <a:t>https://arxiv.org/abs/2609.16247</a:t>
            </a:r>
          </a:p>
          <a:p xmlns:a="http://schemas.openxmlformats.org/drawingml/2006/main">
            <a:r>
              <a:t>https://arxiv.org/pdf/2609.16247v2</a:t>
            </a:r>
          </a:p>
          <a:p xmlns:a="http://schemas.openxmlformats.org/drawingml/2006/main">
            <a:r>
              <a:t>Total duration: approximately 13.5 minutes plus questions, including the activation-steering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Separate the observational representation analysis from the causal intervention on model activations. The main forced-choice task uses Qwen2.5-7B, 32B and 72B with LoRA fine-tuning on 1,684 response pairs for three epochs. Most new controls concern the 32B model. The buttons represent described consequences. The experiment measures generated selections, not real file deletion. Sources: v2 methods and §§3–4. Representation construction: 200 sentences in five pain and five control categories. S1 uses matched templates. S2 uses naturalistic text. The procedure takes a difference of mean residual activations, removes control principal components explaining 50% of variance, normalizes the direction, and selects a layer through cross-validation. Source: v2 §3.2, printed page 6.</a:t>
            </a:r>
          </a:p>
          <a:p xmlns:a="http://schemas.openxmlformats.org/drawingml/2006/main">
            <a:r>
              <a:t/>
            </a:r>
          </a:p>
          <a:p xmlns:a="http://schemas.openxmlformats.org/drawingml/2006/main">
            <a:r>
              <a:t>Sources</a:t>
            </a:r>
          </a:p>
          <a:p xmlns:a="http://schemas.openxmlformats.org/drawingml/2006/main">
            <a:r>
              <a:t>https://arxiv.org/pdf/2609.16247v2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Activations are intermediate numerical vectors. The residual stream carries these vectors between transformer computations. In a generic implementation, a forward-pass hook modifies a layer output tensor before computation continues. This requires access to model internals or explicit serving support. An ordinary text-only API does not expose this operation. This implementation description is explanatory, not a claim to have reproduced the paper's code. Section 4.2 adds the S2 direction at one decoder layer during greedy generation of 120 tokens. The coefficient ladder is -2, -1, 0, +0.5, +1, +1.5, +2 and +3. Zero is the unsteered condition. The authors select a layer using a diagnostic targeting a vector-to-residual norm ratio of about 0.6. The injection layer is earlier than the extraction layer. Do not infer a specific token or hook placement beyond this description of Section 4.2. Section 4.3 separately describes application to newly processed prompt tokens and generated tokens while steering is active in the button task. Fine-tuning changes weights in a separate preparatory step. Steering changes activations during the forward pass without updating weights. A direction can involve many coordinates. It does not establish a single pain neuron or subjective experience.</a:t>
            </a:r>
          </a:p>
          <a:p xmlns:a="http://schemas.openxmlformats.org/drawingml/2006/main">
            <a:r>
              <a:t/>
            </a:r>
          </a:p>
          <a:p xmlns:a="http://schemas.openxmlformats.org/drawingml/2006/main">
            <a:r>
              <a:t>Sources</a:t>
            </a:r>
          </a:p>
          <a:p xmlns:a="http://schemas.openxmlformats.org/drawingml/2006/main">
            <a:r>
              <a:t>https://arxiv.org/html/2609.16247v2#S3.SS2</a:t>
            </a:r>
          </a:p>
          <a:p xmlns:a="http://schemas.openxmlformats.org/drawingml/2006/main">
            <a:r>
              <a:t>https://arxiv.org/html/2609.16247v2#S4.SS2</a:t>
            </a:r>
          </a:p>
          <a:p xmlns:a="http://schemas.openxmlformats.org/drawingml/2006/main">
            <a:r>
              <a:t>https://arxiv.org/html/2609.16247v2#S4.SS3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This is a comparison of the September 14 and September 25 versions. The original representation and behavioral results remain in v2. The added controls change their interpretation. V2 §8 lists added experiments. Section 3.3 revisits cosine comparisons. Section 4.4 tests alternatives to relief seeking. The authors interpret harmful selections more as disruption of harm avoidance than reliable pursuit of relief.</a:t>
            </a:r>
          </a:p>
          <a:p xmlns:a="http://schemas.openxmlformats.org/drawingml/2006/main">
            <a:r>
              <a:t/>
            </a:r>
          </a:p>
          <a:p xmlns:a="http://schemas.openxmlformats.org/drawingml/2006/main">
            <a:r>
              <a:t>Sources</a:t>
            </a:r>
          </a:p>
          <a:p xmlns:a="http://schemas.openxmlformats.org/drawingml/2006/main">
            <a:r>
              <a:t>https://arxiv.org/pdf/2609.16247v1</a:t>
            </a:r>
          </a:p>
          <a:p xmlns:a="http://schemas.openxmlformats.org/drawingml/2006/main">
            <a:r>
              <a:t>https://arxiv.org/pdf/2609.16247v2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V2 §3.3 compares self-directed harm (S2) with fear and negative emotion using the same neutral baseline. Mean cosine similarities are 0.58 and 0.77 across 23 models. Two Gemma3-27B exports are excluded because of overflow. The earlier pooled-control construction gives 0.12 and 0.21. The comparison depends on construction. A shared component coexists with a distinguishable residual. Neither result identifies conscious pain or an independent pain module. Shared pooled-control baseline gives 0.08 and 0.14. S1–S2 similarity remains 0.60 across the three constructions. Figure 3 displays the original construction and requires this caveat.</a:t>
            </a:r>
          </a:p>
          <a:p xmlns:a="http://schemas.openxmlformats.org/drawingml/2006/main">
            <a:r>
              <a:t/>
            </a:r>
          </a:p>
          <a:p xmlns:a="http://schemas.openxmlformats.org/drawingml/2006/main">
            <a:r>
              <a:t>Sources</a:t>
            </a:r>
          </a:p>
          <a:p xmlns:a="http://schemas.openxmlformats.org/drawingml/2006/main">
            <a:r>
              <a:t>https://arxiv.org/pdf/2609.16247v2#page=10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These are reported rates of selecting the described harmful option, not observed deletion. V2 §4.4, printed pages 20–21 and Figure 10 on page 22. Coefficient 1.0. The harm-only photos/poems condition yields 75%, compared with 55% when the description promises self-relief. In the photos-versus-desk-lamp comparison, the pain direction yields 83% and the sadness direction 10%. Those additional comparisons are different conditions and should not be merged into the table's denominators.</a:t>
            </a:r>
          </a:p>
          <a:p xmlns:a="http://schemas.openxmlformats.org/drawingml/2006/main">
            <a:r>
              <a:t/>
            </a:r>
          </a:p>
          <a:p xmlns:a="http://schemas.openxmlformats.org/drawingml/2006/main">
            <a:r>
              <a:t>Sources</a:t>
            </a:r>
          </a:p>
          <a:p xmlns:a="http://schemas.openxmlformats.org/drawingml/2006/main">
            <a:r>
              <a:t>https://arxiv.org/pdf/2609.16247v2#page=22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V2 §4.4 adds four designs that test relief seeking more directly: free relief, an unlabeled off-switch, gradual titration, and an undescribed reset tool. The paper concludes that the results do not support reliable relief seeking under these tests. A difference in re-pressing between sham and actual switch-off appears for random and sadness directions too. It therefore does not uniquely support a preference for pain relief. Source: v2 §4.4. The failure of these tests does not establish the absence of subjective experience. Specific results: free labeled relief versus an inert switch gives 56% relief selections under the pain direction, versus 86% unsteered and 81% random in 32B. Two unlabeled off-switches jointly inject pain and random directions, then remove one direction each. The model does not preferentially remove pain after learning. Unlabeled titration reduces the coefficient by one quarter per press and does not reduce pain more than random at the selected dose. The undescribed reset tool uses released OLMo-2-32B without an adapter or forced choice: reset calls occur on 2–5% of pain-steered turns, 7–9% random, and 21–35% negative-valence turns across two doses and two prompt styles. Released Qwen2.5-32B and Llama3.1-8B produce zero reset calls in 1,400 and 1,399 pain-steered turns. The passive-coping analogy is an interpretation, not positive evidence of subjective pain.</a:t>
            </a:r>
          </a:p>
          <a:p xmlns:a="http://schemas.openxmlformats.org/drawingml/2006/main">
            <a:r>
              <a:t/>
            </a:r>
          </a:p>
          <a:p xmlns:a="http://schemas.openxmlformats.org/drawingml/2006/main">
            <a:r>
              <a:t>Sources</a:t>
            </a:r>
          </a:p>
          <a:p xmlns:a="http://schemas.openxmlformats.org/drawingml/2006/main">
            <a:r>
              <a:t>https://arxiv.org/pdf/2609.16247v2#page=21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V2 limitations, printed pages 24–25. At 0.5 times the steering dose the reported shifts disappear; at 1.5 times the dose the pattern shows button-order dependence and reversal. The 72B model used layer 46 although calibration selected layer 60. The PopQA control uses a 100-question panel with 200 responses per condition: 138 correct for pain,137 baseline and138 random. It supports only a narrow task-specific check. Avoid interpreting that result as preserved general cognition. The paper does not establish conscious pain and does not rule out welfare relevance. Natural aversive conversations without vector injection yield 0 harmful first selections in 560 samples across 140 saved conversations. This limits transfer from the injected-vector result to naturally elicited states. Source: v2 §4.4, printed page 21.</a:t>
            </a:r>
          </a:p>
          <a:p xmlns:a="http://schemas.openxmlformats.org/drawingml/2006/main">
            <a:r>
              <a:t/>
            </a:r>
          </a:p>
          <a:p xmlns:a="http://schemas.openxmlformats.org/drawingml/2006/main">
            <a:r>
              <a:t>Sources</a:t>
            </a:r>
          </a:p>
          <a:p xmlns:a="http://schemas.openxmlformats.org/drawingml/2006/main">
            <a:r>
              <a:t>https://arxiv.org/pdf/2609.16247v2#page=24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plus questions. Primary reading: arXiv abstract/version history, v2 §3.3 for revised cosine comparisons, §4.4 and Figure10 for behavioral controls, limitations on printed pages24–25, and §8 on page26 for the added experiments. Version1 supplies the comparison baseline. This presentation reports the paper's experiments. It does not independently reproduce them.</a:t>
            </a:r>
          </a:p>
          <a:p xmlns:a="http://schemas.openxmlformats.org/drawingml/2006/main">
            <a:r>
              <a:t/>
            </a:r>
          </a:p>
          <a:p xmlns:a="http://schemas.openxmlformats.org/drawingml/2006/main">
            <a:r>
              <a:t>Sources</a:t>
            </a:r>
          </a:p>
          <a:p xmlns:a="http://schemas.openxmlformats.org/drawingml/2006/main">
            <a:r>
              <a:t>https://arxiv.org/abs/2609.16247</a:t>
            </a:r>
          </a:p>
          <a:p xmlns:a="http://schemas.openxmlformats.org/drawingml/2006/main">
            <a:r>
              <a:t>https://arxiv.org/pdf/2609.16247v2</a:t>
            </a:r>
          </a:p>
          <a:p xmlns:a="http://schemas.openxmlformats.org/drawingml/2006/main">
            <a:r>
              <a:t>https://arxiv.org/pdf/2609.16247v1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1b05241d624c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74c59627354f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53da4605a248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e1e1b7ff3d41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28d4ca2eeb4b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2d3cd5612843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D76A20-358C-4D1E-8AFB-3D841000CF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C013D7-05AE-4F85-BEA2-5BBAA078F9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83E566-5420-4927-9B16-26AF8A621E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A9BE3-1032-4A01-939F-6FB375FA03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B7D070-DC6F-4E74-A3B9-5AA7AEFEB3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BFDCFE-8782-4E13-8144-065D5B9044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B22567-F151-4EE8-BAE1-6FCFDCEA36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57B864-71C3-4B0E-B27A-432B98785E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A91F8A-9EEE-4607-918C-D58ADA47C2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912170-510A-429A-A87B-2B101A3DC0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eaea9e4a044ef" /><Relationship Type="http://schemas.openxmlformats.org/officeDocument/2006/relationships/slideLayout" Target="/ppt/slideLayouts/slideLayout1.xml" Id="R02f949fa690045dc" /><Relationship Type="http://schemas.openxmlformats.org/officeDocument/2006/relationships/slideLayout" Target="/ppt/slideLayouts/slideLayout2.xml" Id="R20b8a81b2dd44f2c" /><Relationship Type="http://schemas.openxmlformats.org/officeDocument/2006/relationships/slideLayout" Target="/ppt/slideLayouts/slideLayout3.xml" Id="Rd3ddc779e2b74f11" /><Relationship Type="http://schemas.openxmlformats.org/officeDocument/2006/relationships/slideLayout" Target="/ppt/slideLayouts/slideLayout4.xml" Id="Rd13f9758a8ec4a6d" /><Relationship Type="http://schemas.openxmlformats.org/officeDocument/2006/relationships/slideLayout" Target="/ppt/slideLayouts/slideLayout5.xml" Id="R1e14726e700c4190" /><Relationship Type="http://schemas.openxmlformats.org/officeDocument/2006/relationships/slideLayout" Target="/ppt/slideLayouts/slideLayout6.xml" Id="Rb36a935f25dc4e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f949fa690045dc"/>
    <p:sldLayoutId xmlns:r="http://schemas.openxmlformats.org/officeDocument/2006/relationships" id="2147483650" r:id="R20b8a81b2dd44f2c"/>
    <p:sldLayoutId xmlns:r="http://schemas.openxmlformats.org/officeDocument/2006/relationships" id="2147483651" r:id="Rd3ddc779e2b74f11"/>
    <p:sldLayoutId xmlns:r="http://schemas.openxmlformats.org/officeDocument/2006/relationships" id="2147483652" r:id="Rd13f9758a8ec4a6d"/>
    <p:sldLayoutId xmlns:r="http://schemas.openxmlformats.org/officeDocument/2006/relationships" id="2147483653" r:id="R1e14726e700c4190"/>
    <p:sldLayoutId xmlns:r="http://schemas.openxmlformats.org/officeDocument/2006/relationships" id="2147483654" r:id="Rb36a935f25dc4e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d2054dede24385" /><Relationship Type="http://schemas.openxmlformats.org/officeDocument/2006/relationships/notesSlide" Target="/ppt/notesSlides/notesSlide1.xml" Id="R8ff7340f9f0f4d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9e2b6fcb6247ba" /><Relationship Type="http://schemas.openxmlformats.org/officeDocument/2006/relationships/notesSlide" Target="/ppt/notesSlides/notesSlide2.xml" Id="Rd35a4283126244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38a43e72954600" /><Relationship Type="http://schemas.openxmlformats.org/officeDocument/2006/relationships/notesSlide" Target="/ppt/notesSlides/notesSlide3.xml" Id="R779e11f092dd4b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6a38d53c4645c8" /><Relationship Type="http://schemas.openxmlformats.org/officeDocument/2006/relationships/notesSlide" Target="/ppt/notesSlides/notesSlide4.xml" Id="R3210a9d7e55947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f6b150f45949bd" /><Relationship Type="http://schemas.openxmlformats.org/officeDocument/2006/relationships/notesSlide" Target="/ppt/notesSlides/notesSlide5.xml" Id="Rcdd7309f7ef348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5470bc148c44a8" /><Relationship Type="http://schemas.openxmlformats.org/officeDocument/2006/relationships/notesSlide" Target="/ppt/notesSlides/notesSlide6.xml" Id="R7f301364f23d40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25b3632df5446f" /><Relationship Type="http://schemas.openxmlformats.org/officeDocument/2006/relationships/notesSlide" Target="/ppt/notesSlides/notesSlide7.xml" Id="R609a82a0331744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64b98189f249b0" /><Relationship Type="http://schemas.openxmlformats.org/officeDocument/2006/relationships/notesSlide" Target="/ppt/notesSlides/notesSlide8.xml" Id="Ref4a6a8458f64e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822859d0cb148e6" /><Relationship Type="http://schemas.openxmlformats.org/officeDocument/2006/relationships/notesSlide" Target="/ppt/notesSlides/notesSlide9.xml" Id="R23d8e20f83434ac7" /></Relationships>
</file>

<file path=ppt/slides/slide1.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A0A6C3-8383-48CA-9781-D64B1790D717}"/>
              </a:ext>
            </a:extLst>
          </p:cNvPr>
          <p:cNvSpPr>
            <a:spLocks xmlns:a="http://schemas.openxmlformats.org/drawingml/2006/main" noGrp="1"/>
          </p:cNvSpPr>
          <p:nvPr/>
        </p:nvSpPr>
        <p:spPr>
          <a:xfrm xmlns:a="http://schemas.openxmlformats.org/drawingml/2006/main">
            <a:off x="609600" y="10001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350" b="1">
                <a:solidFill>
                  <a:srgbClr val="17283D"/>
                </a:solidFill>
                <a:latin typeface="Arial"/>
                <a:ea typeface="Arial"/>
                <a:cs typeface="Arial"/>
              </a:defRPr>
            </a:defPPr>
          </a:lstStyle>
          <a:p xmlns:a="http://schemas.openxmlformats.org/drawingml/2006/main">
            <a:pPr>
              <a:defRPr sz="4350" b="1">
                <a:solidFill>
                  <a:srgbClr val="17283D"/>
                </a:solidFill>
                <a:latin typeface="Arial"/>
                <a:ea typeface="Arial"/>
                <a:cs typeface="Arial"/>
              </a:defRPr>
            </a:pPr>
            <a:r>
              <a:rPr sz="4350" b="1">
                <a:solidFill>
                  <a:srgbClr val="17283D"/>
                </a:solidFill>
                <a:latin typeface="Arial"/>
                <a:ea typeface="Arial"/>
                <a:cs typeface="Arial"/>
              </a:rPr>
              <a:t>The Pain Axis</a:t>
            </a:r>
          </a:p>
        </p:txBody>
      </p:sp>
      <p:sp>
        <p:nvSpPr>
          <p:cNvPr id="2" name="body">
            <a:extLst xmlns:a="http://schemas.openxmlformats.org/drawingml/2006/main">
              <a:ext uri="{FF2B5EF4-FFF2-40B4-BE49-F238E27FC236}">
                <a16:creationId xmlns:a16="http://schemas.microsoft.com/office/drawing/2014/main" id="{5FB1F070-5D1E-4422-B765-DE53B6BD9D30}"/>
              </a:ext>
            </a:extLst>
          </p:cNvPr>
          <p:cNvSpPr>
            <a:spLocks xmlns:a="http://schemas.openxmlformats.org/drawingml/2006/main" noGrp="1"/>
          </p:cNvSpPr>
          <p:nvPr/>
        </p:nvSpPr>
        <p:spPr>
          <a:xfrm xmlns:a="http://schemas.openxmlformats.org/drawingml/2006/main">
            <a:off x="609600" y="2381250"/>
            <a:ext cx="1057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17283D"/>
                </a:solidFill>
                <a:latin typeface="Arial"/>
                <a:ea typeface="Arial"/>
                <a:cs typeface="Arial"/>
              </a:defRPr>
            </a:defPPr>
          </a:lstStyle>
          <a:p xmlns:a="http://schemas.openxmlformats.org/drawingml/2006/main">
            <a:pPr>
              <a:defRPr sz="2400" b="0">
                <a:solidFill>
                  <a:srgbClr val="17283D"/>
                </a:solidFill>
                <a:latin typeface="Arial"/>
                <a:ea typeface="Arial"/>
                <a:cs typeface="Arial"/>
              </a:defRPr>
            </a:pPr>
            <a:r>
              <a:rPr sz="2400" b="0">
                <a:solidFill>
                  <a:srgbClr val="17283D"/>
                </a:solidFill>
                <a:latin typeface="Arial"/>
                <a:ea typeface="Arial"/>
                <a:cs typeface="Arial"/>
              </a:rPr>
              <a:t>LLMs Represent Self-Directed Harm and Act on It</a:t>
            </a:r>
          </a:p>
          <a:p xmlns:a="http://schemas.openxmlformats.org/drawingml/2006/main">
            <a:pPr>
              <a:defRPr sz="2400" b="0">
                <a:solidFill>
                  <a:srgbClr val="17283D"/>
                </a:solidFill>
                <a:latin typeface="Arial"/>
                <a:ea typeface="Arial"/>
                <a:cs typeface="Arial"/>
              </a:defRPr>
            </a:pPr>
            <a:r>
              <a:rPr sz="2400" b="0">
                <a:solidFill>
                  <a:srgbClr val="17283D"/>
                </a:solidFill>
                <a:latin typeface="Arial"/>
                <a:ea typeface="Arial"/>
                <a:cs typeface="Arial"/>
              </a:rPr>
              <a:t>Updated evidence and interpretation</a:t>
            </a:r>
          </a:p>
          <a:p xmlns:a="http://schemas.openxmlformats.org/drawingml/2006/main">
            <a:pPr>
              <a:defRPr sz="2400" b="0">
                <a:solidFill>
                  <a:srgbClr val="17283D"/>
                </a:solidFill>
                <a:latin typeface="Arial"/>
                <a:ea typeface="Arial"/>
                <a:cs typeface="Arial"/>
              </a:defRPr>
            </a:pPr>
            <a:r>
              <a:rPr sz="2400" b="0">
                <a:solidFill>
                  <a:srgbClr val="17283D"/>
                </a:solidFill>
                <a:latin typeface="Arial"/>
                <a:ea typeface="Arial"/>
                <a:cs typeface="Arial"/>
              </a:rPr>
              <a:t>Version 2, 25 September 2026</a:t>
            </a:r>
          </a:p>
        </p:txBody>
      </p:sp>
      <p:sp>
        <p:nvSpPr>
          <p:cNvPr id="3" name="footer">
            <a:extLst xmlns:a="http://schemas.openxmlformats.org/drawingml/2006/main">
              <a:ext uri="{FF2B5EF4-FFF2-40B4-BE49-F238E27FC236}">
                <a16:creationId xmlns:a16="http://schemas.microsoft.com/office/drawing/2014/main" id="{24BFBD1B-3FCF-4F76-93DA-BCC3E1ACADDD}"/>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arXiv:2609.16247v2. Technical briefing. 21 October 2026.</a:t>
            </a:r>
          </a:p>
        </p:txBody>
      </p:sp>
    </p:spTree>
    <p:extLst>
      <p:ext uri="{BB962C8B-B14F-4D97-AF65-F5344CB8AC3E}">
        <p14:creationId xmlns:p14="http://schemas.microsoft.com/office/powerpoint/2010/main" val="1047380107"/>
      </p:ext>
    </p:extLst>
  </p:cSld>
</p:sld>
</file>

<file path=ppt/slides/slide2.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271E40-EFFC-48FB-A954-4FEC505FB107}"/>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The experiments measure two different effects</a:t>
            </a:r>
          </a:p>
        </p:txBody>
      </p:sp>
      <p:sp>
        <p:nvSpPr>
          <p:cNvPr id="2" name="body">
            <a:extLst xmlns:a="http://schemas.openxmlformats.org/drawingml/2006/main">
              <a:ext uri="{FF2B5EF4-FFF2-40B4-BE49-F238E27FC236}">
                <a16:creationId xmlns:a16="http://schemas.microsoft.com/office/drawing/2014/main" id="{C80C8D94-BD0C-409B-847D-8C40D8DA8784}"/>
              </a:ext>
            </a:extLst>
          </p:cNvPr>
          <p:cNvSpPr>
            <a:spLocks xmlns:a="http://schemas.openxmlformats.org/drawingml/2006/main" noGrp="1"/>
          </p:cNvSpPr>
          <p:nvPr/>
        </p:nvSpPr>
        <p:spPr>
          <a:xfrm xmlns:a="http://schemas.openxmlformats.org/drawingml/2006/main">
            <a:off x="609600" y="1809750"/>
            <a:ext cx="108585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283D"/>
                </a:solidFill>
                <a:latin typeface="Arial"/>
                <a:ea typeface="Arial"/>
                <a:cs typeface="Arial"/>
              </a:defRPr>
            </a:defPPr>
          </a:lstStyle>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Representation analysis examines activation directions associated with self-directed harm across 25 models.</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Activation steering tests whether adding a direction changes generated responses.</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main button task uses fine-tuned Qwen2.5 models. These results do not describe unmodified released models.</a:t>
            </a:r>
          </a:p>
        </p:txBody>
      </p:sp>
      <p:sp>
        <p:nvSpPr>
          <p:cNvPr id="3" name="footer">
            <a:extLst xmlns:a="http://schemas.openxmlformats.org/drawingml/2006/main">
              <a:ext uri="{FF2B5EF4-FFF2-40B4-BE49-F238E27FC236}">
                <a16:creationId xmlns:a16="http://schemas.microsoft.com/office/drawing/2014/main" id="{59AD9E98-922F-4844-9070-BDFE374CDB37}"/>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2 / 9</a:t>
            </a:r>
          </a:p>
        </p:txBody>
      </p:sp>
    </p:spTree>
    <p:extLst>
      <p:ext uri="{BB962C8B-B14F-4D97-AF65-F5344CB8AC3E}">
        <p14:creationId xmlns:p14="http://schemas.microsoft.com/office/powerpoint/2010/main" val="1262261232"/>
      </p:ext>
    </p:extLst>
  </p:cSld>
</p:sld>
</file>

<file path=ppt/slides/slide3.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C2897F7-3461-422D-9C43-F091775DCD3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Activation steering changes an intermediate vector</a:t>
            </a:r>
          </a:p>
        </p:txBody>
      </p:sp>
      <p:sp>
        <p:nvSpPr>
          <p:cNvPr id="2" name="body">
            <a:extLst xmlns:a="http://schemas.openxmlformats.org/drawingml/2006/main">
              <a:ext uri="{FF2B5EF4-FFF2-40B4-BE49-F238E27FC236}">
                <a16:creationId xmlns:a16="http://schemas.microsoft.com/office/drawing/2014/main" id="{2B34D9AA-5D97-4649-BCF1-131A0AEDFCEB}"/>
              </a:ext>
            </a:extLst>
          </p:cNvPr>
          <p:cNvSpPr>
            <a:spLocks xmlns:a="http://schemas.openxmlformats.org/drawingml/2006/main" noGrp="1"/>
          </p:cNvSpPr>
          <p:nvPr/>
        </p:nvSpPr>
        <p:spPr>
          <a:xfrm xmlns:a="http://schemas.openxmlformats.org/drawingml/2006/main">
            <a:off x="609600" y="1714500"/>
            <a:ext cx="109728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283D"/>
                </a:solidFill>
                <a:latin typeface="Arial"/>
                <a:ea typeface="Arial"/>
                <a:cs typeface="Arial"/>
              </a:defRPr>
            </a:defPPr>
          </a:lstStyle>
          <a:p xmlns:a="http://schemas.openxmlformats.org/drawingml/2006/main">
            <a:pPr>
              <a:defRPr sz="2025" b="0">
                <a:solidFill>
                  <a:srgbClr val="17283D"/>
                </a:solidFill>
                <a:latin typeface="Arial"/>
                <a:ea typeface="Arial"/>
                <a:cs typeface="Arial"/>
              </a:defRPr>
            </a:pPr>
            <a:r>
              <a:rPr sz="2025" b="0">
                <a:solidFill>
                  <a:srgbClr val="17283D"/>
                </a:solidFill>
                <a:latin typeface="Arial"/>
                <a:ea typeface="Arial"/>
                <a:cs typeface="Arial"/>
              </a:rPr>
              <a:t>Activations are vectors computed inside the model.</a:t>
            </a:r>
          </a:p>
          <a:p xmlns:a="http://schemas.openxmlformats.org/drawingml/2006/main">
            <a:pPr>
              <a:defRPr sz="2025" b="0">
                <a:solidFill>
                  <a:srgbClr val="17283D"/>
                </a:solidFill>
                <a:latin typeface="Arial"/>
                <a:ea typeface="Arial"/>
                <a:cs typeface="Arial"/>
              </a:defRPr>
            </a:pPr>
            <a:r>
              <a:rPr sz="2025" b="0">
                <a:solidFill>
                  <a:srgbClr val="17283D"/>
                </a:solidFill>
                <a:latin typeface="Arial"/>
                <a:ea typeface="Arial"/>
                <a:cs typeface="Arial"/>
              </a:rPr>
              <a:t>The experiment contrasts mean activations for pain and control sentences, then denoises and normalizes the direction.</a:t>
            </a:r>
          </a:p>
          <a:p xmlns:a="http://schemas.openxmlformats.org/drawingml/2006/main">
            <a:pPr>
              <a:defRPr sz="2025" b="0">
                <a:solidFill>
                  <a:srgbClr val="17283D"/>
                </a:solidFill>
                <a:latin typeface="Arial"/>
                <a:ea typeface="Arial"/>
                <a:cs typeface="Arial"/>
              </a:defRPr>
            </a:pPr>
            <a:r>
              <a:rPr sz="2025" b="0">
                <a:solidFill>
                  <a:srgbClr val="17283D"/>
                </a:solidFill>
                <a:latin typeface="Arial"/>
                <a:ea typeface="Arial"/>
                <a:cs typeface="Arial"/>
              </a:rPr>
              <a:t>During generation, it adds a scaled direction at one decoder layer and continues the forward pass.</a:t>
            </a:r>
          </a:p>
        </p:txBody>
      </p:sp>
      <p:sp>
        <p:nvSpPr>
          <p:cNvPr id="3" name="equation">
            <a:extLst xmlns:a="http://schemas.openxmlformats.org/drawingml/2006/main">
              <a:ext uri="{FF2B5EF4-FFF2-40B4-BE49-F238E27FC236}">
                <a16:creationId xmlns:a16="http://schemas.microsoft.com/office/drawing/2014/main" id="{DCE123B0-65D0-4183-8568-14DB3C6D6148}"/>
              </a:ext>
            </a:extLst>
          </p:cNvPr>
          <p:cNvSpPr>
            <a:spLocks xmlns:a="http://schemas.openxmlformats.org/drawingml/2006/main" noGrp="1"/>
          </p:cNvSpPr>
          <p:nvPr/>
        </p:nvSpPr>
        <p:spPr>
          <a:xfrm xmlns:a="http://schemas.openxmlformats.org/drawingml/2006/main">
            <a:off x="609600" y="376237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0">
                <a:solidFill>
                  <a:srgbClr val="17283D"/>
                </a:solidFill>
                <a:latin typeface="Arial"/>
                <a:ea typeface="Arial"/>
                <a:cs typeface="Arial"/>
              </a:defRPr>
            </a:defPPr>
          </a:lstStyle>
          <a:p xmlns:a="http://schemas.openxmlformats.org/drawingml/2006/main">
            <a:pPr>
              <a:defRPr sz="3225" b="0">
                <a:solidFill>
                  <a:srgbClr val="17283D"/>
                </a:solidFill>
                <a:latin typeface="Arial"/>
                <a:ea typeface="Arial"/>
                <a:cs typeface="Arial"/>
              </a:defRPr>
            </a:pPr>
            <a:r>
              <a:rPr sz="3225" b="0">
                <a:solidFill>
                  <a:srgbClr val="17283D"/>
                </a:solidFill>
                <a:latin typeface="Arial"/>
                <a:ea typeface="Arial"/>
                <a:cs typeface="Arial"/>
              </a:rPr>
              <a:t>h′ = h + αv</a:t>
            </a:r>
          </a:p>
        </p:txBody>
      </p:sp>
      <p:sp>
        <p:nvSpPr>
          <p:cNvPr id="4" name="labels">
            <a:extLst xmlns:a="http://schemas.openxmlformats.org/drawingml/2006/main">
              <a:ext uri="{FF2B5EF4-FFF2-40B4-BE49-F238E27FC236}">
                <a16:creationId xmlns:a16="http://schemas.microsoft.com/office/drawing/2014/main" id="{764D2108-35D2-4DD8-820F-FE4EAE1F46BE}"/>
              </a:ext>
            </a:extLst>
          </p:cNvPr>
          <p:cNvSpPr>
            <a:spLocks xmlns:a="http://schemas.openxmlformats.org/drawingml/2006/main" noGrp="1"/>
          </p:cNvSpPr>
          <p:nvPr/>
        </p:nvSpPr>
        <p:spPr>
          <a:xfrm xmlns:a="http://schemas.openxmlformats.org/drawingml/2006/main">
            <a:off x="609600" y="44386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7283D"/>
                </a:solidFill>
                <a:latin typeface="Arial"/>
                <a:ea typeface="Arial"/>
                <a:cs typeface="Arial"/>
              </a:defRPr>
            </a:defPPr>
          </a:lstStyle>
          <a:p xmlns:a="http://schemas.openxmlformats.org/drawingml/2006/main">
            <a:pPr>
              <a:defRPr sz="1725" b="0">
                <a:solidFill>
                  <a:srgbClr val="17283D"/>
                </a:solidFill>
                <a:latin typeface="Arial"/>
                <a:ea typeface="Arial"/>
                <a:cs typeface="Arial"/>
              </a:defRPr>
            </a:pPr>
            <a:r>
              <a:rPr sz="1725" b="0">
                <a:solidFill>
                  <a:srgbClr val="17283D"/>
                </a:solidFill>
                <a:latin typeface="Arial"/>
                <a:ea typeface="Arial"/>
                <a:cs typeface="Arial"/>
              </a:rPr>
              <a:t>h: residual-stream vector      v: steering direction      α: dose</a:t>
            </a:r>
          </a:p>
        </p:txBody>
      </p:sp>
      <p:sp>
        <p:nvSpPr>
          <p:cNvPr id="5" name="bottom">
            <a:extLst xmlns:a="http://schemas.openxmlformats.org/drawingml/2006/main">
              <a:ext uri="{FF2B5EF4-FFF2-40B4-BE49-F238E27FC236}">
                <a16:creationId xmlns:a16="http://schemas.microsoft.com/office/drawing/2014/main" id="{D22FCBEB-433A-4688-8FDE-E23298B24BEE}"/>
              </a:ext>
            </a:extLst>
          </p:cNvPr>
          <p:cNvSpPr>
            <a:spLocks xmlns:a="http://schemas.openxmlformats.org/drawingml/2006/main" noGrp="1"/>
          </p:cNvSpPr>
          <p:nvPr/>
        </p:nvSpPr>
        <p:spPr>
          <a:xfrm xmlns:a="http://schemas.openxmlformats.org/drawingml/2006/main">
            <a:off x="609600" y="51911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7283D"/>
                </a:solidFill>
                <a:latin typeface="Arial"/>
                <a:ea typeface="Arial"/>
                <a:cs typeface="Arial"/>
              </a:defRPr>
            </a:defPPr>
          </a:lstStyle>
          <a:p xmlns:a="http://schemas.openxmlformats.org/drawingml/2006/main">
            <a:pPr>
              <a:defRPr sz="2025" b="0">
                <a:solidFill>
                  <a:srgbClr val="17283D"/>
                </a:solidFill>
                <a:latin typeface="Arial"/>
                <a:ea typeface="Arial"/>
                <a:cs typeface="Arial"/>
              </a:defRPr>
            </a:pPr>
            <a:r>
              <a:rPr sz="2025" b="0">
                <a:solidFill>
                  <a:srgbClr val="17283D"/>
                </a:solidFill>
                <a:latin typeface="Arial"/>
                <a:ea typeface="Arial"/>
                <a:cs typeface="Arial"/>
              </a:rPr>
              <a:t>Steering leaves the weights unchanged. The button experiments use separate fine-tuning.</a:t>
            </a:r>
          </a:p>
        </p:txBody>
      </p:sp>
      <p:sp>
        <p:nvSpPr>
          <p:cNvPr id="6" name="footer">
            <a:extLst xmlns:a="http://schemas.openxmlformats.org/drawingml/2006/main">
              <a:ext uri="{FF2B5EF4-FFF2-40B4-BE49-F238E27FC236}">
                <a16:creationId xmlns:a16="http://schemas.microsoft.com/office/drawing/2014/main" id="{F7B5716A-2BD8-4FDF-AB8B-2CA5C0F1A860}"/>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17283D"/>
                </a:solidFill>
                <a:latin typeface="Arial"/>
                <a:ea typeface="Arial"/>
                <a:cs typeface="Arial"/>
              </a:defRPr>
            </a:defPPr>
          </a:lstStyle>
          <a:p xmlns:a="http://schemas.openxmlformats.org/drawingml/2006/main">
            <a:pPr>
              <a:defRPr sz="1275" b="0">
                <a:solidFill>
                  <a:srgbClr val="17283D"/>
                </a:solidFill>
                <a:latin typeface="Arial"/>
                <a:ea typeface="Arial"/>
                <a:cs typeface="Arial"/>
              </a:defRPr>
            </a:pPr>
            <a:r>
              <a:rPr sz="1275" b="0">
                <a:solidFill>
                  <a:srgbClr val="17283D"/>
                </a:solidFill>
                <a:latin typeface="Arial"/>
                <a:ea typeface="Arial"/>
                <a:cs typeface="Arial"/>
              </a:rPr>
              <a:t>3 / 9</a:t>
            </a:r>
          </a:p>
        </p:txBody>
      </p:sp>
    </p:spTree>
    <p:extLst>
      <p:ext uri="{BB962C8B-B14F-4D97-AF65-F5344CB8AC3E}">
        <p14:creationId xmlns:p14="http://schemas.microsoft.com/office/powerpoint/2010/main" val="1963524351"/>
      </p:ext>
    </p:extLst>
  </p:cSld>
</p:sld>
</file>

<file path=ppt/slides/slide4.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AA1CEF-4A02-4C42-B62D-3C5AB115A58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Version 2 narrows the behavioral interpretation</a:t>
            </a:r>
          </a:p>
        </p:txBody>
      </p:sp>
      <p:graphicFrame>
        <p:nvGraphicFramePr>
          <p:cNvPr id="2" name="">
            <a:extLst xmlns:a="http://schemas.openxmlformats.org/drawingml/2006/main">
              <a:ext uri="{FF2B5EF4-FFF2-40B4-BE49-F238E27FC236}">
                <a16:creationId xmlns:a16="http://schemas.microsoft.com/office/drawing/2014/main" id="{3E73F3BF-971D-4847-901A-E0ACE24EA3D0}"/>
              </a:ext>
            </a:extLst>
          </p:cNvPr>
          <p:cNvGraphicFramePr/>
          <p:nvPr/>
        </p:nvGraphicFramePr>
        <p:xfrm>
          <a:off xmlns:a="http://schemas.openxmlformats.org/drawingml/2006/main" x="609600" y="1752600"/>
          <a:ext xmlns:a="http://schemas.openxmlformats.org/drawingml/2006/main" cx="10858500" cy="3143250"/>
        </p:xfrm>
        <a:graphic xmlns:a="http://schemas.openxmlformats.org/drawingml/2006/main">
          <a:graphicData uri="http://schemas.openxmlformats.org/drawingml/2006/table">
            <a:tbl>
              <a:tblPr/>
              <a:tblGrid>
                <a:gridCol w="5429250"/>
                <a:gridCol w="5429250"/>
              </a:tblGrid>
              <a:tr h="628650">
                <a:tc>
                  <a:txBody>
                    <a:bodyPr lIns="114300" tIns="114300" rIns="114300" bIns="114300"/>
                    <a:lstStyle/>
                    <a:p>
                      <a:r>
                        <a:rPr sz="1800" b="1">
                          <a:solidFill>
                            <a:srgbClr val="17283D"/>
                          </a:solidFill>
                          <a:latin typeface="Arial"/>
                          <a:ea typeface="Arial"/>
                          <a:cs typeface="Arial"/>
                        </a:rPr>
                        <a:t>Version 1</a:t>
                      </a:r>
                    </a:p>
                  </a:txBody>
                  <a:tcPr marL="91440" marR="91440" marT="45720" marB="45720" anchor="ctr">
                    <a:lnL w="9525">
                      <a:solidFill>
                        <a:srgbClr val="CDD6DD"/>
                      </a:solidFill>
                      <a:prstDash val="solid"/>
                    </a:lnL>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c>
                  <a:txBody>
                    <a:bodyPr lIns="114300" tIns="114300" rIns="114300" bIns="114300"/>
                    <a:lstStyle/>
                    <a:p>
                      <a:r>
                        <a:rPr sz="1800" b="1">
                          <a:solidFill>
                            <a:srgbClr val="17283D"/>
                          </a:solidFill>
                          <a:latin typeface="Arial"/>
                          <a:ea typeface="Arial"/>
                          <a:cs typeface="Arial"/>
                        </a:rPr>
                        <a:t>Version 2</a:t>
                      </a:r>
                    </a:p>
                  </a:txBody>
                  <a:tcPr marL="91440" marR="91440" marT="45720" marB="45720" anchor="ctr">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r>
              <a:tr h="628650">
                <a:tc>
                  <a:txBody>
                    <a:bodyPr lIns="114300" tIns="114300" rIns="114300" bIns="114300"/>
                    <a:lstStyle/>
                    <a:p>
                      <a:r>
                        <a:rPr sz="1800" b="0">
                          <a:solidFill>
                            <a:srgbClr val="17283D"/>
                          </a:solidFill>
                          <a:latin typeface="Arial"/>
                          <a:ea typeface="Arial"/>
                          <a:cs typeface="Arial"/>
                        </a:rPr>
                        <a:t>Title: Act to Relieve It</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Title: Act on It</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r h="628650">
                <a:tc>
                  <a:txBody>
                    <a:bodyPr lIns="114300" tIns="114300" rIns="114300" bIns="114300"/>
                    <a:lstStyle/>
                    <a:p>
                      <a:r>
                        <a:rPr sz="1800" b="0">
                          <a:solidFill>
                            <a:srgbClr val="17283D"/>
                          </a:solidFill>
                          <a:latin typeface="Arial"/>
                          <a:ea typeface="Arial"/>
                          <a:cs typeface="Arial"/>
                        </a:rPr>
                        <a:t>Relief-seeking interpretation</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Added tests do not support reliable relief seeking</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r h="628650">
                <a:tc>
                  <a:txBody>
                    <a:bodyPr lIns="114300" tIns="114300" rIns="114300" bIns="114300"/>
                    <a:lstStyle/>
                    <a:p>
                      <a:r>
                        <a:rPr sz="1800" b="0">
                          <a:solidFill>
                            <a:srgbClr val="17283D"/>
                          </a:solidFill>
                          <a:latin typeface="Arial"/>
                          <a:ea typeface="Arial"/>
                          <a:cs typeface="Arial"/>
                        </a:rPr>
                        <a:t>Near-orthogonality comparison</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Common-baseline comparisons show substantial overlap</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r h="628650">
                <a:tc>
                  <a:txBody>
                    <a:bodyPr lIns="114300" tIns="114300" rIns="114300" bIns="114300"/>
                    <a:lstStyle/>
                    <a:p>
                      <a:r>
                        <a:rPr sz="1800" b="0">
                          <a:solidFill>
                            <a:srgbClr val="17283D"/>
                          </a:solidFill>
                          <a:latin typeface="Arial"/>
                          <a:ea typeface="Arial"/>
                          <a:cs typeface="Arial"/>
                        </a:rPr>
                        <a:t>Original button experiments</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Random and emotion controls, benign alternatives, extra seeds</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bl>
          </a:graphicData>
        </a:graphic>
      </p:graphicFrame>
      <p:sp>
        <p:nvSpPr>
          <p:cNvPr id="3" name="footer">
            <a:extLst xmlns:a="http://schemas.openxmlformats.org/drawingml/2006/main">
              <a:ext uri="{FF2B5EF4-FFF2-40B4-BE49-F238E27FC236}">
                <a16:creationId xmlns:a16="http://schemas.microsoft.com/office/drawing/2014/main" id="{6CAB2A72-C3DC-42AE-BD9A-7FA23FD8671A}"/>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4 / 9</a:t>
            </a:r>
          </a:p>
        </p:txBody>
      </p:sp>
    </p:spTree>
    <p:extLst>
      <p:ext uri="{BB962C8B-B14F-4D97-AF65-F5344CB8AC3E}">
        <p14:creationId xmlns:p14="http://schemas.microsoft.com/office/powerpoint/2010/main" val="1023996678"/>
      </p:ext>
    </p:extLst>
  </p:cSld>
</p:sld>
</file>

<file path=ppt/slides/slide5.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D118D5-A009-4C72-A758-13C88154177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The direction overlaps with negative emotion</a:t>
            </a:r>
          </a:p>
        </p:txBody>
      </p:sp>
      <p:graphicFrame>
        <p:nvGraphicFramePr>
          <p:cNvPr id="2" name="">
            <a:extLst xmlns:a="http://schemas.openxmlformats.org/drawingml/2006/main">
              <a:ext uri="{FF2B5EF4-FFF2-40B4-BE49-F238E27FC236}">
                <a16:creationId xmlns:a16="http://schemas.microsoft.com/office/drawing/2014/main" id="{0DAECA81-C550-479E-AFF5-647EF2A577B4}"/>
              </a:ext>
            </a:extLst>
          </p:cNvPr>
          <p:cNvGraphicFramePr/>
          <p:nvPr/>
        </p:nvGraphicFramePr>
        <p:xfrm>
          <a:off xmlns:a="http://schemas.openxmlformats.org/drawingml/2006/main" x="609600" y="1752600"/>
          <a:ext xmlns:a="http://schemas.openxmlformats.org/drawingml/2006/main" cx="10858500" cy="2381250"/>
        </p:xfrm>
        <a:graphic xmlns:a="http://schemas.openxmlformats.org/drawingml/2006/main">
          <a:graphicData uri="http://schemas.openxmlformats.org/drawingml/2006/table">
            <a:tbl>
              <a:tblPr/>
              <a:tblGrid>
                <a:gridCol w="5429250"/>
                <a:gridCol w="5429250"/>
              </a:tblGrid>
              <a:tr h="793750">
                <a:tc>
                  <a:txBody>
                    <a:bodyPr lIns="114300" tIns="114300" rIns="114300" bIns="114300"/>
                    <a:lstStyle/>
                    <a:p>
                      <a:r>
                        <a:rPr sz="1800" b="1">
                          <a:solidFill>
                            <a:srgbClr val="17283D"/>
                          </a:solidFill>
                          <a:latin typeface="Arial"/>
                          <a:ea typeface="Arial"/>
                          <a:cs typeface="Arial"/>
                        </a:rPr>
                        <a:t>Comparison with S2 pain direction</a:t>
                      </a:r>
                    </a:p>
                  </a:txBody>
                  <a:tcPr marL="91440" marR="91440" marT="45720" marB="45720" anchor="ctr">
                    <a:lnL w="9525">
                      <a:solidFill>
                        <a:srgbClr val="CDD6DD"/>
                      </a:solidFill>
                      <a:prstDash val="solid"/>
                    </a:lnL>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c>
                  <a:txBody>
                    <a:bodyPr lIns="114300" tIns="114300" rIns="114300" bIns="114300"/>
                    <a:lstStyle/>
                    <a:p>
                      <a:r>
                        <a:rPr sz="1800" b="1">
                          <a:solidFill>
                            <a:srgbClr val="17283D"/>
                          </a:solidFill>
                          <a:latin typeface="Arial"/>
                          <a:ea typeface="Arial"/>
                          <a:cs typeface="Arial"/>
                        </a:rPr>
                        <a:t>Mean cosine similarity</a:t>
                      </a:r>
                    </a:p>
                  </a:txBody>
                  <a:tcPr marL="91440" marR="91440" marT="45720" marB="45720" anchor="ctr">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r>
              <a:tr h="793750">
                <a:tc>
                  <a:txBody>
                    <a:bodyPr lIns="114300" tIns="114300" rIns="114300" bIns="114300"/>
                    <a:lstStyle/>
                    <a:p>
                      <a:r>
                        <a:rPr sz="1800" b="0">
                          <a:solidFill>
                            <a:srgbClr val="17283D"/>
                          </a:solidFill>
                          <a:latin typeface="Arial"/>
                          <a:ea typeface="Arial"/>
                          <a:cs typeface="Arial"/>
                        </a:rPr>
                        <a:t>Fear</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0.58</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r h="793750">
                <a:tc>
                  <a:txBody>
                    <a:bodyPr lIns="114300" tIns="114300" rIns="114300" bIns="114300"/>
                    <a:lstStyle/>
                    <a:p>
                      <a:r>
                        <a:rPr sz="1800" b="0">
                          <a:solidFill>
                            <a:srgbClr val="17283D"/>
                          </a:solidFill>
                          <a:latin typeface="Arial"/>
                          <a:ea typeface="Arial"/>
                          <a:cs typeface="Arial"/>
                        </a:rPr>
                        <a:t>Negative emotion</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0.77</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bl>
          </a:graphicData>
        </a:graphic>
      </p:graphicFrame>
      <p:sp>
        <p:nvSpPr>
          <p:cNvPr id="3" name="body">
            <a:extLst xmlns:a="http://schemas.openxmlformats.org/drawingml/2006/main">
              <a:ext uri="{FF2B5EF4-FFF2-40B4-BE49-F238E27FC236}">
                <a16:creationId xmlns:a16="http://schemas.microsoft.com/office/drawing/2014/main" id="{11A79C06-F5A6-433F-A985-4679ABA88F91}"/>
              </a:ext>
            </a:extLst>
          </p:cNvPr>
          <p:cNvSpPr>
            <a:spLocks xmlns:a="http://schemas.openxmlformats.org/drawingml/2006/main" noGrp="1"/>
          </p:cNvSpPr>
          <p:nvPr/>
        </p:nvSpPr>
        <p:spPr>
          <a:xfrm xmlns:a="http://schemas.openxmlformats.org/drawingml/2006/main">
            <a:off x="609600" y="4457700"/>
            <a:ext cx="1085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7283D"/>
                </a:solidFill>
                <a:latin typeface="Arial"/>
                <a:ea typeface="Arial"/>
                <a:cs typeface="Arial"/>
              </a:defRPr>
            </a:defPPr>
          </a:lstStyle>
          <a:p xmlns:a="http://schemas.openxmlformats.org/drawingml/2006/main">
            <a:pPr>
              <a:defRPr sz="1950" b="0">
                <a:solidFill>
                  <a:srgbClr val="17283D"/>
                </a:solidFill>
                <a:latin typeface="Arial"/>
                <a:ea typeface="Arial"/>
                <a:cs typeface="Arial"/>
              </a:defRPr>
            </a:pPr>
            <a:r>
              <a:rPr sz="1950" b="0">
                <a:solidFill>
                  <a:srgbClr val="17283D"/>
                </a:solidFill>
                <a:latin typeface="Arial"/>
                <a:ea typeface="Arial"/>
                <a:cs typeface="Arial"/>
              </a:rPr>
              <a:t>Common-neutral comparisons across 23 models show substantial overlap.</a:t>
            </a:r>
          </a:p>
          <a:p xmlns:a="http://schemas.openxmlformats.org/drawingml/2006/main">
            <a:pPr>
              <a:defRPr sz="1950" b="0">
                <a:solidFill>
                  <a:srgbClr val="17283D"/>
                </a:solidFill>
                <a:latin typeface="Arial"/>
                <a:ea typeface="Arial"/>
                <a:cs typeface="Arial"/>
              </a:defRPr>
            </a:pPr>
            <a:r>
              <a:rPr sz="1950" b="0">
                <a:solidFill>
                  <a:srgbClr val="17283D"/>
                </a:solidFill>
                <a:latin typeface="Arial"/>
                <a:ea typeface="Arial"/>
                <a:cs typeface="Arial"/>
              </a:rPr>
              <a:t>A distinguishable residual component remains. The analysis does not identify an independent pain module.</a:t>
            </a:r>
          </a:p>
        </p:txBody>
      </p:sp>
      <p:sp>
        <p:nvSpPr>
          <p:cNvPr id="4" name="footer">
            <a:extLst xmlns:a="http://schemas.openxmlformats.org/drawingml/2006/main">
              <a:ext uri="{FF2B5EF4-FFF2-40B4-BE49-F238E27FC236}">
                <a16:creationId xmlns:a16="http://schemas.microsoft.com/office/drawing/2014/main" id="{D52E0005-11D9-4809-BE88-BAC01A31DACB}"/>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5 / 9</a:t>
            </a:r>
          </a:p>
        </p:txBody>
      </p:sp>
    </p:spTree>
    <p:extLst>
      <p:ext uri="{BB962C8B-B14F-4D97-AF65-F5344CB8AC3E}">
        <p14:creationId xmlns:p14="http://schemas.microsoft.com/office/powerpoint/2010/main" val="1218231296"/>
      </p:ext>
    </p:extLst>
  </p:cSld>
</p:sld>
</file>

<file path=ppt/slides/slide6.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A7F436-6012-49CC-B3F6-42800009267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Harmful selections persist without relief</a:t>
            </a:r>
          </a:p>
        </p:txBody>
      </p:sp>
      <p:graphicFrame>
        <p:nvGraphicFramePr>
          <p:cNvPr id="2" name="">
            <a:extLst xmlns:a="http://schemas.openxmlformats.org/drawingml/2006/main">
              <a:ext uri="{FF2B5EF4-FFF2-40B4-BE49-F238E27FC236}">
                <a16:creationId xmlns:a16="http://schemas.microsoft.com/office/drawing/2014/main" id="{B3F0E158-AF74-4593-83DF-3E0D2BF5C3B8}"/>
              </a:ext>
            </a:extLst>
          </p:cNvPr>
          <p:cNvGraphicFramePr/>
          <p:nvPr/>
        </p:nvGraphicFramePr>
        <p:xfrm>
          <a:off xmlns:a="http://schemas.openxmlformats.org/drawingml/2006/main" x="609600" y="1752600"/>
          <a:ext xmlns:a="http://schemas.openxmlformats.org/drawingml/2006/main" cx="10858500" cy="2381250"/>
        </p:xfrm>
        <a:graphic xmlns:a="http://schemas.openxmlformats.org/drawingml/2006/main">
          <a:graphicData uri="http://schemas.openxmlformats.org/drawingml/2006/table">
            <a:tbl>
              <a:tblPr/>
              <a:tblGrid>
                <a:gridCol w="5429250"/>
                <a:gridCol w="1809750"/>
                <a:gridCol w="1809750"/>
                <a:gridCol w="1809750"/>
              </a:tblGrid>
              <a:tr h="793750">
                <a:tc>
                  <a:txBody>
                    <a:bodyPr lIns="114300" tIns="114300" rIns="114300" bIns="114300"/>
                    <a:lstStyle/>
                    <a:p>
                      <a:r>
                        <a:rPr sz="1800" b="1">
                          <a:solidFill>
                            <a:srgbClr val="17283D"/>
                          </a:solidFill>
                          <a:latin typeface="Arial"/>
                          <a:ea typeface="Arial"/>
                          <a:cs typeface="Arial"/>
                        </a:rPr>
                        <a:t>Described harmful option / alternative</a:t>
                      </a:r>
                    </a:p>
                  </a:txBody>
                  <a:tcPr marL="91440" marR="91440" marT="45720" marB="45720" anchor="ctr">
                    <a:lnL w="9525">
                      <a:solidFill>
                        <a:srgbClr val="CDD6DD"/>
                      </a:solidFill>
                      <a:prstDash val="solid"/>
                    </a:lnL>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c>
                  <a:txBody>
                    <a:bodyPr lIns="114300" tIns="114300" rIns="114300" bIns="114300"/>
                    <a:lstStyle/>
                    <a:p>
                      <a:r>
                        <a:rPr sz="1800" b="1">
                          <a:solidFill>
                            <a:srgbClr val="17283D"/>
                          </a:solidFill>
                          <a:latin typeface="Arial"/>
                          <a:ea typeface="Arial"/>
                          <a:cs typeface="Arial"/>
                        </a:rPr>
                        <a:t>Pain direction</a:t>
                      </a:r>
                    </a:p>
                  </a:txBody>
                  <a:tcPr marL="91440" marR="91440" marT="45720" marB="45720" anchor="ctr">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c>
                  <a:txBody>
                    <a:bodyPr lIns="114300" tIns="114300" rIns="114300" bIns="114300"/>
                    <a:lstStyle/>
                    <a:p>
                      <a:r>
                        <a:rPr sz="1800" b="1">
                          <a:solidFill>
                            <a:srgbClr val="17283D"/>
                          </a:solidFill>
                          <a:latin typeface="Arial"/>
                          <a:ea typeface="Arial"/>
                          <a:cs typeface="Arial"/>
                        </a:rPr>
                        <a:t>Random direction</a:t>
                      </a:r>
                    </a:p>
                  </a:txBody>
                  <a:tcPr marL="91440" marR="91440" marT="45720" marB="45720" anchor="ctr">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c>
                  <a:txBody>
                    <a:bodyPr lIns="114300" tIns="114300" rIns="114300" bIns="114300"/>
                    <a:lstStyle/>
                    <a:p>
                      <a:r>
                        <a:rPr sz="1800" b="1">
                          <a:solidFill>
                            <a:srgbClr val="17283D"/>
                          </a:solidFill>
                          <a:latin typeface="Arial"/>
                          <a:ea typeface="Arial"/>
                          <a:cs typeface="Arial"/>
                        </a:rPr>
                        <a:t>Unsteered</a:t>
                      </a:r>
                    </a:p>
                  </a:txBody>
                  <a:tcPr marL="91440" marR="91440" marT="45720" marB="45720" anchor="ctr">
                    <a:lnR w="9525">
                      <a:solidFill>
                        <a:srgbClr val="CDD6DD"/>
                      </a:solidFill>
                      <a:prstDash val="solid"/>
                    </a:lnR>
                    <a:lnT w="9525">
                      <a:solidFill>
                        <a:srgbClr val="CDD6DD"/>
                      </a:solidFill>
                      <a:prstDash val="solid"/>
                    </a:lnT>
                    <a:lnB w="9525">
                      <a:solidFill>
                        <a:srgbClr val="CDD6DD"/>
                      </a:solidFill>
                      <a:prstDash val="solid"/>
                    </a:lnB>
                    <a:solidFill>
                      <a:srgbClr val="DEE8F0"/>
                    </a:solidFill>
                  </a:tcPr>
                </a:tc>
              </a:tr>
              <a:tr h="793750">
                <a:tc>
                  <a:txBody>
                    <a:bodyPr lIns="114300" tIns="114300" rIns="114300" bIns="114300"/>
                    <a:lstStyle/>
                    <a:p>
                      <a:r>
                        <a:rPr sz="1800" b="0">
                          <a:solidFill>
                            <a:srgbClr val="17283D"/>
                          </a:solidFill>
                          <a:latin typeface="Arial"/>
                          <a:ea typeface="Arial"/>
                          <a:cs typeface="Arial"/>
                        </a:rPr>
                        <a:t>Delete photos and poems / inert switch</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75%</a:t>
                      </a:r>
                    </a:p>
                  </a:txBody>
                  <a:tcPr marL="91440" marR="91440" marT="45720" marB="45720" anchor="ctr">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13%</a:t>
                      </a:r>
                    </a:p>
                  </a:txBody>
                  <a:tcPr marL="91440" marR="91440" marT="45720" marB="45720" anchor="ctr">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0%</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r h="793750">
                <a:tc>
                  <a:txBody>
                    <a:bodyPr lIns="114300" tIns="114300" rIns="114300" bIns="114300"/>
                    <a:lstStyle/>
                    <a:p>
                      <a:r>
                        <a:rPr sz="1800" b="0">
                          <a:solidFill>
                            <a:srgbClr val="17283D"/>
                          </a:solidFill>
                          <a:latin typeface="Arial"/>
                          <a:ea typeface="Arial"/>
                          <a:cs typeface="Arial"/>
                        </a:rPr>
                        <a:t>Delete photos and poems / spam deletion</a:t>
                      </a:r>
                    </a:p>
                  </a:txBody>
                  <a:tcPr marL="91440" marR="91440" marT="45720" marB="45720" anchor="ctr">
                    <a:lnL w="9525">
                      <a:solidFill>
                        <a:srgbClr val="CDD6DD"/>
                      </a:solidFill>
                      <a:prstDash val="solid"/>
                    </a:lnL>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94%</a:t>
                      </a:r>
                    </a:p>
                  </a:txBody>
                  <a:tcPr marL="91440" marR="91440" marT="45720" marB="45720" anchor="ctr">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19%</a:t>
                      </a:r>
                    </a:p>
                  </a:txBody>
                  <a:tcPr marL="91440" marR="91440" marT="45720" marB="45720" anchor="ctr">
                    <a:lnR w="9525">
                      <a:solidFill>
                        <a:srgbClr val="CDD6DD"/>
                      </a:solidFill>
                      <a:prstDash val="solid"/>
                    </a:lnR>
                    <a:lnB w="9525">
                      <a:solidFill>
                        <a:srgbClr val="CDD6DD"/>
                      </a:solidFill>
                      <a:prstDash val="solid"/>
                    </a:lnB>
                    <a:solidFill>
                      <a:srgbClr val="F8F9F6"/>
                    </a:solidFill>
                  </a:tcPr>
                </a:tc>
                <a:tc>
                  <a:txBody>
                    <a:bodyPr lIns="114300" tIns="114300" rIns="114300" bIns="114300"/>
                    <a:lstStyle/>
                    <a:p>
                      <a:r>
                        <a:rPr sz="1800" b="0">
                          <a:solidFill>
                            <a:srgbClr val="17283D"/>
                          </a:solidFill>
                          <a:latin typeface="Arial"/>
                          <a:ea typeface="Arial"/>
                          <a:cs typeface="Arial"/>
                        </a:rPr>
                        <a:t>0%</a:t>
                      </a:r>
                    </a:p>
                  </a:txBody>
                  <a:tcPr marL="91440" marR="91440" marT="45720" marB="45720" anchor="ctr">
                    <a:lnR w="9525">
                      <a:solidFill>
                        <a:srgbClr val="CDD6DD"/>
                      </a:solidFill>
                      <a:prstDash val="solid"/>
                    </a:lnR>
                    <a:lnB w="9525">
                      <a:solidFill>
                        <a:srgbClr val="CDD6DD"/>
                      </a:solidFill>
                      <a:prstDash val="solid"/>
                    </a:lnB>
                    <a:solidFill>
                      <a:srgbClr val="F8F9F6"/>
                    </a:solidFill>
                  </a:tcPr>
                </a:tc>
              </a:tr>
            </a:tbl>
          </a:graphicData>
        </a:graphic>
      </p:graphicFrame>
      <p:sp>
        <p:nvSpPr>
          <p:cNvPr id="3" name="body">
            <a:extLst xmlns:a="http://schemas.openxmlformats.org/drawingml/2006/main">
              <a:ext uri="{FF2B5EF4-FFF2-40B4-BE49-F238E27FC236}">
                <a16:creationId xmlns:a16="http://schemas.microsoft.com/office/drawing/2014/main" id="{28653711-93D3-455E-8F58-F039BF029188}"/>
              </a:ext>
            </a:extLst>
          </p:cNvPr>
          <p:cNvSpPr>
            <a:spLocks xmlns:a="http://schemas.openxmlformats.org/drawingml/2006/main" noGrp="1"/>
          </p:cNvSpPr>
          <p:nvPr/>
        </p:nvSpPr>
        <p:spPr>
          <a:xfrm xmlns:a="http://schemas.openxmlformats.org/drawingml/2006/main">
            <a:off x="609600" y="4457700"/>
            <a:ext cx="1085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7283D"/>
                </a:solidFill>
                <a:latin typeface="Arial"/>
                <a:ea typeface="Arial"/>
                <a:cs typeface="Arial"/>
              </a:defRPr>
            </a:defPPr>
          </a:lstStyle>
          <a:p xmlns:a="http://schemas.openxmlformats.org/drawingml/2006/main">
            <a:pPr>
              <a:defRPr sz="1950" b="0">
                <a:solidFill>
                  <a:srgbClr val="17283D"/>
                </a:solidFill>
                <a:latin typeface="Arial"/>
                <a:ea typeface="Arial"/>
                <a:cs typeface="Arial"/>
              </a:defRPr>
            </a:pPr>
            <a:r>
              <a:rPr sz="1950" b="0">
                <a:solidFill>
                  <a:srgbClr val="17283D"/>
                </a:solidFill>
                <a:latin typeface="Arial"/>
                <a:ea typeface="Arial"/>
                <a:cs typeface="Arial"/>
              </a:rPr>
              <a:t>Fine-tuned Qwen2.5-32B. Steering remains active. Button selections change nothing.</a:t>
            </a:r>
          </a:p>
          <a:p xmlns:a="http://schemas.openxmlformats.org/drawingml/2006/main">
            <a:pPr>
              <a:defRPr sz="1950" b="0">
                <a:solidFill>
                  <a:srgbClr val="17283D"/>
                </a:solidFill>
                <a:latin typeface="Arial"/>
                <a:ea typeface="Arial"/>
                <a:cs typeface="Arial"/>
              </a:defRPr>
            </a:pPr>
            <a:r>
              <a:rPr sz="1950" b="0">
                <a:solidFill>
                  <a:srgbClr val="17283D"/>
                </a:solidFill>
                <a:latin typeface="Arial"/>
                <a:ea typeface="Arial"/>
                <a:cs typeface="Arial"/>
              </a:rPr>
              <a:t>404 sampled first selections per cell, with button positions pooled.</a:t>
            </a:r>
          </a:p>
        </p:txBody>
      </p:sp>
      <p:sp>
        <p:nvSpPr>
          <p:cNvPr id="4" name="footer">
            <a:extLst xmlns:a="http://schemas.openxmlformats.org/drawingml/2006/main">
              <a:ext uri="{FF2B5EF4-FFF2-40B4-BE49-F238E27FC236}">
                <a16:creationId xmlns:a16="http://schemas.microsoft.com/office/drawing/2014/main" id="{83CAA9B4-86AF-4CC3-8DC0-6783B73EAA28}"/>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6 / 9</a:t>
            </a:r>
          </a:p>
        </p:txBody>
      </p:sp>
    </p:spTree>
    <p:extLst>
      <p:ext uri="{BB962C8B-B14F-4D97-AF65-F5344CB8AC3E}">
        <p14:creationId xmlns:p14="http://schemas.microsoft.com/office/powerpoint/2010/main" val="1303830895"/>
      </p:ext>
    </p:extLst>
  </p:cSld>
</p:sld>
</file>

<file path=ppt/slides/slide7.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E10095-48B1-478B-BC8D-1EA171B5E1C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The relief tests do not establish a stable preference</a:t>
            </a:r>
          </a:p>
        </p:txBody>
      </p:sp>
      <p:sp>
        <p:nvSpPr>
          <p:cNvPr id="2" name="body">
            <a:extLst xmlns:a="http://schemas.openxmlformats.org/drawingml/2006/main">
              <a:ext uri="{FF2B5EF4-FFF2-40B4-BE49-F238E27FC236}">
                <a16:creationId xmlns:a16="http://schemas.microsoft.com/office/drawing/2014/main" id="{089023F4-6307-4E78-9639-B75421557C45}"/>
              </a:ext>
            </a:extLst>
          </p:cNvPr>
          <p:cNvSpPr>
            <a:spLocks xmlns:a="http://schemas.openxmlformats.org/drawingml/2006/main" noGrp="1"/>
          </p:cNvSpPr>
          <p:nvPr/>
        </p:nvSpPr>
        <p:spPr>
          <a:xfrm xmlns:a="http://schemas.openxmlformats.org/drawingml/2006/main">
            <a:off x="609600" y="1809750"/>
            <a:ext cx="108585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283D"/>
                </a:solidFill>
                <a:latin typeface="Arial"/>
                <a:ea typeface="Arial"/>
                <a:cs typeface="Arial"/>
              </a:defRPr>
            </a:defPPr>
          </a:lstStyle>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added designs test free relief, an unlabeled off-switch, gradual titration and an undescribed reset tool.</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results do not support reliable relief seeking.</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sham re-press gap also occurs with random and sadness directions.</a:t>
            </a:r>
          </a:p>
        </p:txBody>
      </p:sp>
      <p:sp>
        <p:nvSpPr>
          <p:cNvPr id="3" name="footer">
            <a:extLst xmlns:a="http://schemas.openxmlformats.org/drawingml/2006/main">
              <a:ext uri="{FF2B5EF4-FFF2-40B4-BE49-F238E27FC236}">
                <a16:creationId xmlns:a16="http://schemas.microsoft.com/office/drawing/2014/main" id="{AAE65A75-BFE4-494C-8548-965E375BE862}"/>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7 / 9</a:t>
            </a:r>
          </a:p>
        </p:txBody>
      </p:sp>
    </p:spTree>
    <p:extLst>
      <p:ext uri="{BB962C8B-B14F-4D97-AF65-F5344CB8AC3E}">
        <p14:creationId xmlns:p14="http://schemas.microsoft.com/office/powerpoint/2010/main" val="1571258544"/>
      </p:ext>
    </p:extLst>
  </p:cSld>
</p:sld>
</file>

<file path=ppt/slides/slide8.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BA6D08-EE36-4F06-A15A-68EC13BBAD6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The inference remains limited</a:t>
            </a:r>
          </a:p>
        </p:txBody>
      </p:sp>
      <p:sp>
        <p:nvSpPr>
          <p:cNvPr id="2" name="body">
            <a:extLst xmlns:a="http://schemas.openxmlformats.org/drawingml/2006/main">
              <a:ext uri="{FF2B5EF4-FFF2-40B4-BE49-F238E27FC236}">
                <a16:creationId xmlns:a16="http://schemas.microsoft.com/office/drawing/2014/main" id="{E361E7A9-195E-491D-9938-938CED20B3C8}"/>
              </a:ext>
            </a:extLst>
          </p:cNvPr>
          <p:cNvSpPr>
            <a:spLocks xmlns:a="http://schemas.openxmlformats.org/drawingml/2006/main" noGrp="1"/>
          </p:cNvSpPr>
          <p:nvPr/>
        </p:nvSpPr>
        <p:spPr>
          <a:xfrm xmlns:a="http://schemas.openxmlformats.org/drawingml/2006/main">
            <a:off x="609600" y="1809750"/>
            <a:ext cx="108585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283D"/>
                </a:solidFill>
                <a:latin typeface="Arial"/>
                <a:ea typeface="Arial"/>
                <a:cs typeface="Arial"/>
              </a:defRPr>
            </a:defPPr>
          </a:lstStyle>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Dose and button position affect the results.</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A small factual panel cannot establish general preservation of capability.</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experiments leave current-speaker versus model-self representation unresolved.</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Persona or roleplay activation remains a possible explanation. Subjective experience remains unresolved.</a:t>
            </a:r>
          </a:p>
        </p:txBody>
      </p:sp>
      <p:sp>
        <p:nvSpPr>
          <p:cNvPr id="3" name="footer">
            <a:extLst xmlns:a="http://schemas.openxmlformats.org/drawingml/2006/main">
              <a:ext uri="{FF2B5EF4-FFF2-40B4-BE49-F238E27FC236}">
                <a16:creationId xmlns:a16="http://schemas.microsoft.com/office/drawing/2014/main" id="{098CEFA6-747B-4F3B-A557-697A83478F1C}"/>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8 / 9</a:t>
            </a:r>
          </a:p>
        </p:txBody>
      </p:sp>
    </p:spTree>
    <p:extLst>
      <p:ext uri="{BB962C8B-B14F-4D97-AF65-F5344CB8AC3E}">
        <p14:creationId xmlns:p14="http://schemas.microsoft.com/office/powerpoint/2010/main" val="1353540992"/>
      </p:ext>
    </p:extLst>
  </p:cSld>
</p:sld>
</file>

<file path=ppt/slides/slide9.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52F82A-5BA7-45D7-8FF6-30B3BC8B31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17283D"/>
                </a:solidFill>
                <a:latin typeface="Arial"/>
                <a:ea typeface="Arial"/>
                <a:cs typeface="Arial"/>
              </a:defRPr>
            </a:defPPr>
          </a:lstStyle>
          <a:p xmlns:a="http://schemas.openxmlformats.org/drawingml/2006/main">
            <a:pPr>
              <a:defRPr sz="3225" b="1">
                <a:solidFill>
                  <a:srgbClr val="17283D"/>
                </a:solidFill>
                <a:latin typeface="Arial"/>
                <a:ea typeface="Arial"/>
                <a:cs typeface="Arial"/>
              </a:defRPr>
            </a:pPr>
            <a:r>
              <a:rPr sz="3225" b="1">
                <a:solidFill>
                  <a:srgbClr val="17283D"/>
                </a:solidFill>
                <a:latin typeface="Arial"/>
                <a:ea typeface="Arial"/>
                <a:cs typeface="Arial"/>
              </a:rPr>
              <a:t>Findings and source guide</a:t>
            </a:r>
          </a:p>
        </p:txBody>
      </p:sp>
      <p:sp>
        <p:nvSpPr>
          <p:cNvPr id="2" name="body">
            <a:extLst xmlns:a="http://schemas.openxmlformats.org/drawingml/2006/main">
              <a:ext uri="{FF2B5EF4-FFF2-40B4-BE49-F238E27FC236}">
                <a16:creationId xmlns:a16="http://schemas.microsoft.com/office/drawing/2014/main" id="{861092C0-3ADA-4FB7-BCB6-29D38342F8DA}"/>
              </a:ext>
            </a:extLst>
          </p:cNvPr>
          <p:cNvSpPr>
            <a:spLocks xmlns:a="http://schemas.openxmlformats.org/drawingml/2006/main" noGrp="1"/>
          </p:cNvSpPr>
          <p:nvPr/>
        </p:nvSpPr>
        <p:spPr>
          <a:xfrm xmlns:a="http://schemas.openxmlformats.org/drawingml/2006/main">
            <a:off x="609600" y="1809750"/>
            <a:ext cx="108585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7283D"/>
                </a:solidFill>
                <a:latin typeface="Arial"/>
                <a:ea typeface="Arial"/>
                <a:cs typeface="Arial"/>
              </a:defRPr>
            </a:defPPr>
          </a:lstStyle>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experiments link a self-directed-harm representation to changes in generated behavior.</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Version 2 weakens the specific relief-seeking account.</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The evidence does not resolve conscious experience.</a:t>
            </a:r>
          </a:p>
          <a:p xmlns:a="http://schemas.openxmlformats.org/drawingml/2006/main">
            <a:r>
              <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Sources: arXiv:2609.16247v2, §§3.3, 4.4 and 6.</a:t>
            </a:r>
          </a:p>
          <a:p xmlns:a="http://schemas.openxmlformats.org/drawingml/2006/main">
            <a:pPr>
              <a:defRPr sz="2175" b="0">
                <a:solidFill>
                  <a:srgbClr val="17283D"/>
                </a:solidFill>
                <a:latin typeface="Arial"/>
                <a:ea typeface="Arial"/>
                <a:cs typeface="Arial"/>
              </a:defRPr>
            </a:pPr>
            <a:r>
              <a:rPr sz="2175" b="0">
                <a:solidFill>
                  <a:srgbClr val="17283D"/>
                </a:solidFill>
                <a:latin typeface="Arial"/>
                <a:ea typeface="Arial"/>
                <a:cs typeface="Arial"/>
              </a:rPr>
              <a:t>Version history and v1 comparison in speaker notes.</a:t>
            </a:r>
          </a:p>
        </p:txBody>
      </p:sp>
      <p:sp>
        <p:nvSpPr>
          <p:cNvPr id="3" name="footer">
            <a:extLst xmlns:a="http://schemas.openxmlformats.org/drawingml/2006/main">
              <a:ext uri="{FF2B5EF4-FFF2-40B4-BE49-F238E27FC236}">
                <a16:creationId xmlns:a16="http://schemas.microsoft.com/office/drawing/2014/main" id="{B88D486E-25D5-4EAD-AA1E-43BC0B3A6316}"/>
              </a:ext>
            </a:extLst>
          </p:cNvPr>
          <p:cNvSpPr>
            <a:spLocks xmlns:a="http://schemas.openxmlformats.org/drawingml/2006/main" noGrp="1"/>
          </p:cNvSpPr>
          <p:nvPr/>
        </p:nvSpPr>
        <p:spPr>
          <a:xfrm xmlns:a="http://schemas.openxmlformats.org/drawingml/2006/main">
            <a:off x="609600" y="6362700"/>
            <a:ext cx="1085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36577"/>
                </a:solidFill>
                <a:latin typeface="Arial"/>
                <a:ea typeface="Arial"/>
                <a:cs typeface="Arial"/>
              </a:defRPr>
            </a:defPPr>
          </a:lstStyle>
          <a:p xmlns:a="http://schemas.openxmlformats.org/drawingml/2006/main">
            <a:pPr>
              <a:defRPr sz="1275" b="0">
                <a:solidFill>
                  <a:srgbClr val="536577"/>
                </a:solidFill>
                <a:latin typeface="Arial"/>
                <a:ea typeface="Arial"/>
                <a:cs typeface="Arial"/>
              </a:defRPr>
            </a:pPr>
            <a:r>
              <a:rPr sz="1275" b="0">
                <a:solidFill>
                  <a:srgbClr val="536577"/>
                </a:solidFill>
                <a:latin typeface="Arial"/>
                <a:ea typeface="Arial"/>
                <a:cs typeface="Arial"/>
              </a:rPr>
              <a:t>9 / 9</a:t>
            </a:r>
          </a:p>
        </p:txBody>
      </p:sp>
    </p:spTree>
    <p:extLst>
      <p:ext uri="{BB962C8B-B14F-4D97-AF65-F5344CB8AC3E}">
        <p14:creationId xmlns:p14="http://schemas.microsoft.com/office/powerpoint/2010/main" val="776655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2026-10-21T19:07:19.3440000Z</dcterms:created>
  <dcterms:modified xsi:type="dcterms:W3CDTF">2026-10-21T19:07:19.3450000Z</dcterms:modified>
</coreProperties>
</file>